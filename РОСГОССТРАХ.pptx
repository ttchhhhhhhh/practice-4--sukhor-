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348" r:id="rId3"/>
    <p:sldId id="342" r:id="rId4"/>
    <p:sldId id="346" r:id="rId5"/>
    <p:sldId id="347" r:id="rId6"/>
    <p:sldId id="345" r:id="rId7"/>
    <p:sldId id="351" r:id="rId8"/>
    <p:sldId id="349" r:id="rId9"/>
    <p:sldId id="352" r:id="rId10"/>
    <p:sldId id="353" r:id="rId11"/>
    <p:sldId id="354" r:id="rId12"/>
    <p:sldId id="355" r:id="rId13"/>
    <p:sldId id="356" r:id="rId14"/>
    <p:sldId id="350" r:id="rId15"/>
    <p:sldId id="302" r:id="rId16"/>
  </p:sldIdLst>
  <p:sldSz cx="9144000" cy="5143500" type="screen16x9"/>
  <p:notesSz cx="10693400" cy="7562850"/>
  <p:defaultTextStyle>
    <a:defPPr>
      <a:defRPr lang="ru-RU"/>
    </a:defPPr>
    <a:lvl1pPr marL="0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805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609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414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219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9024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828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633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438" algn="l" defTabSz="71560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1959">
          <p15:clr>
            <a:srgbClr val="A4A3A4"/>
          </p15:clr>
        </p15:guide>
        <p15:guide id="4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9EBF4"/>
    <a:srgbClr val="48A28A"/>
    <a:srgbClr val="343434"/>
    <a:srgbClr val="FFFFFF"/>
    <a:srgbClr val="C6605E"/>
    <a:srgbClr val="35449B"/>
    <a:srgbClr val="3E50B5"/>
    <a:srgbClr val="3F949B"/>
    <a:srgbClr val="6D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2" autoAdjust="0"/>
    <p:restoredTop sz="95332" autoAdjust="0"/>
  </p:normalViewPr>
  <p:slideViewPr>
    <p:cSldViewPr>
      <p:cViewPr varScale="1">
        <p:scale>
          <a:sx n="93" d="100"/>
          <a:sy n="93" d="100"/>
        </p:scale>
        <p:origin x="798" y="96"/>
      </p:cViewPr>
      <p:guideLst>
        <p:guide orient="horz" pos="2880"/>
        <p:guide pos="2160"/>
        <p:guide orient="horz" pos="1959"/>
        <p:guide pos="1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AAF12-F0D9-462C-8E59-BDAE464FA9F8}" type="datetimeFigureOut">
              <a:rPr lang="ru-RU" smtClean="0"/>
              <a:pPr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7F7F6-B3F5-4A13-A402-480E62E595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85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805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609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414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219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9024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828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633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438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16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91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595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317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860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452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139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601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511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995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577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825750" y="566738"/>
            <a:ext cx="5041900" cy="28368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FD9305-6746-44C1-9566-6398BF717F9C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21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4532" y="2268004"/>
            <a:ext cx="3074934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58595B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761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6/17/2026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8161" y="321647"/>
            <a:ext cx="4827678" cy="292388"/>
          </a:xfrm>
        </p:spPr>
        <p:txBody>
          <a:bodyPr lIns="0" tIns="0" rIns="0" bIns="0"/>
          <a:lstStyle>
            <a:lvl1pPr>
              <a:defRPr sz="1900" b="0" i="0">
                <a:solidFill>
                  <a:srgbClr val="58595B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8516" y="945002"/>
            <a:ext cx="7586969" cy="600164"/>
          </a:xfrm>
        </p:spPr>
        <p:txBody>
          <a:bodyPr lIns="0" tIns="0" rIns="0" bIns="0"/>
          <a:lstStyle>
            <a:lvl1pPr>
              <a:defRPr sz="3900" b="0" i="0">
                <a:solidFill>
                  <a:srgbClr val="109FD6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8161" y="321647"/>
            <a:ext cx="4827678" cy="292388"/>
          </a:xfrm>
        </p:spPr>
        <p:txBody>
          <a:bodyPr lIns="0" tIns="0" rIns="0" bIns="0"/>
          <a:lstStyle>
            <a:lvl1pPr>
              <a:defRPr sz="1900" b="0" i="0">
                <a:solidFill>
                  <a:srgbClr val="58595B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05291" y="1229592"/>
            <a:ext cx="184943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31F20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31435" y="1216636"/>
            <a:ext cx="331334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31F20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6/17/2026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8161" y="321647"/>
            <a:ext cx="4827678" cy="292388"/>
          </a:xfrm>
        </p:spPr>
        <p:txBody>
          <a:bodyPr lIns="0" tIns="0" rIns="0" bIns="0"/>
          <a:lstStyle>
            <a:lvl1pPr>
              <a:defRPr sz="1900" b="0" i="0">
                <a:solidFill>
                  <a:srgbClr val="58595B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6/17/2026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6/17/2026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5038" y="4654671"/>
            <a:ext cx="2387877" cy="273844"/>
          </a:xfrm>
          <a:prstGeom prst="rect">
            <a:avLst/>
          </a:prstGeom>
        </p:spPr>
        <p:txBody>
          <a:bodyPr lIns="77930" tIns="38965" rIns="77930" bIns="38965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3A7B9F-15C4-4568-8D85-6E85F1A4C8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77930" tIns="38965" rIns="77930" bIns="38965" rtlCol="0">
            <a:normAutofit/>
          </a:bodyPr>
          <a:lstStyle>
            <a:lvl1pPr marL="292237" indent="-292237">
              <a:buClr>
                <a:srgbClr val="005C95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81886" indent="-292237">
              <a:buClr>
                <a:srgbClr val="005C95"/>
              </a:buClr>
              <a:buSzPct val="110000"/>
              <a:buFont typeface="Wingdings" panose="05000000000000000000" pitchFamily="2" charset="2"/>
              <a:buChar char="§"/>
              <a:defRPr sz="19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1071536" indent="-292237">
              <a:buClr>
                <a:srgbClr val="005C95"/>
              </a:buClr>
              <a:buSzPct val="110000"/>
              <a:buFont typeface="Wingdings" panose="05000000000000000000" pitchFamily="2" charset="2"/>
              <a:buChar char="§"/>
              <a:defRPr sz="17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1412479" indent="-243531">
              <a:buClr>
                <a:srgbClr val="005C95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1802128" indent="-243531">
              <a:buClr>
                <a:srgbClr val="005C95"/>
              </a:buClr>
              <a:buSzPct val="110000"/>
              <a:buFont typeface="Wingdings" panose="05000000000000000000" pitchFamily="2" charset="2"/>
              <a:buChar char="§"/>
              <a:defRPr sz="13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3"/>
          </p:nvPr>
        </p:nvSpPr>
        <p:spPr>
          <a:xfrm>
            <a:off x="2327653" y="330364"/>
            <a:ext cx="6335483" cy="4154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>
                <a:latin typeface="+mj-lt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02295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8161" y="321647"/>
            <a:ext cx="482767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8595B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8516" y="945002"/>
            <a:ext cx="7586969" cy="761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109FD6"/>
                </a:solidFill>
                <a:latin typeface="Museo Sans Cyrl 500"/>
                <a:cs typeface="Museo Sans Cyrl 50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805">
        <a:defRPr>
          <a:latin typeface="+mn-lt"/>
          <a:ea typeface="+mn-ea"/>
          <a:cs typeface="+mn-cs"/>
        </a:defRPr>
      </a:lvl2pPr>
      <a:lvl3pPr marL="715609">
        <a:defRPr>
          <a:latin typeface="+mn-lt"/>
          <a:ea typeface="+mn-ea"/>
          <a:cs typeface="+mn-cs"/>
        </a:defRPr>
      </a:lvl3pPr>
      <a:lvl4pPr marL="1073414">
        <a:defRPr>
          <a:latin typeface="+mn-lt"/>
          <a:ea typeface="+mn-ea"/>
          <a:cs typeface="+mn-cs"/>
        </a:defRPr>
      </a:lvl4pPr>
      <a:lvl5pPr marL="1431219">
        <a:defRPr>
          <a:latin typeface="+mn-lt"/>
          <a:ea typeface="+mn-ea"/>
          <a:cs typeface="+mn-cs"/>
        </a:defRPr>
      </a:lvl5pPr>
      <a:lvl6pPr marL="1789024">
        <a:defRPr>
          <a:latin typeface="+mn-lt"/>
          <a:ea typeface="+mn-ea"/>
          <a:cs typeface="+mn-cs"/>
        </a:defRPr>
      </a:lvl6pPr>
      <a:lvl7pPr marL="2146828">
        <a:defRPr>
          <a:latin typeface="+mn-lt"/>
          <a:ea typeface="+mn-ea"/>
          <a:cs typeface="+mn-cs"/>
        </a:defRPr>
      </a:lvl7pPr>
      <a:lvl8pPr marL="2504633">
        <a:defRPr>
          <a:latin typeface="+mn-lt"/>
          <a:ea typeface="+mn-ea"/>
          <a:cs typeface="+mn-cs"/>
        </a:defRPr>
      </a:lvl8pPr>
      <a:lvl9pPr marL="28624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805">
        <a:defRPr>
          <a:latin typeface="+mn-lt"/>
          <a:ea typeface="+mn-ea"/>
          <a:cs typeface="+mn-cs"/>
        </a:defRPr>
      </a:lvl2pPr>
      <a:lvl3pPr marL="715609">
        <a:defRPr>
          <a:latin typeface="+mn-lt"/>
          <a:ea typeface="+mn-ea"/>
          <a:cs typeface="+mn-cs"/>
        </a:defRPr>
      </a:lvl3pPr>
      <a:lvl4pPr marL="1073414">
        <a:defRPr>
          <a:latin typeface="+mn-lt"/>
          <a:ea typeface="+mn-ea"/>
          <a:cs typeface="+mn-cs"/>
        </a:defRPr>
      </a:lvl4pPr>
      <a:lvl5pPr marL="1431219">
        <a:defRPr>
          <a:latin typeface="+mn-lt"/>
          <a:ea typeface="+mn-ea"/>
          <a:cs typeface="+mn-cs"/>
        </a:defRPr>
      </a:lvl5pPr>
      <a:lvl6pPr marL="1789024">
        <a:defRPr>
          <a:latin typeface="+mn-lt"/>
          <a:ea typeface="+mn-ea"/>
          <a:cs typeface="+mn-cs"/>
        </a:defRPr>
      </a:lvl6pPr>
      <a:lvl7pPr marL="2146828">
        <a:defRPr>
          <a:latin typeface="+mn-lt"/>
          <a:ea typeface="+mn-ea"/>
          <a:cs typeface="+mn-cs"/>
        </a:defRPr>
      </a:lvl7pPr>
      <a:lvl8pPr marL="2504633">
        <a:defRPr>
          <a:latin typeface="+mn-lt"/>
          <a:ea typeface="+mn-ea"/>
          <a:cs typeface="+mn-cs"/>
        </a:defRPr>
      </a:lvl8pPr>
      <a:lvl9pPr marL="28624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7683" y="285750"/>
            <a:ext cx="7557796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976" algn="ctr"/>
            <a:r>
              <a:rPr lang="ru-RU" sz="2800" dirty="0" smtClean="0">
                <a:solidFill>
                  <a:srgbClr val="58595B"/>
                </a:solidFill>
                <a:latin typeface="Museo Sans Cyrl 700" panose="02000000000000000000" pitchFamily="50" charset="-52"/>
                <a:cs typeface="Museo Sans Cyrl 500"/>
              </a:rPr>
              <a:t>ПАО «РОСГОССТРАХ»</a:t>
            </a:r>
            <a:endParaRPr lang="ru-RU" sz="2800" dirty="0" smtClean="0">
              <a:solidFill>
                <a:srgbClr val="58595B"/>
              </a:solidFill>
              <a:latin typeface="Museo Sans Cyrl 700" panose="02000000000000000000" pitchFamily="50" charset="-52"/>
              <a:cs typeface="Museo Sans Cyrl 500"/>
            </a:endParaRPr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685800" y="819150"/>
            <a:ext cx="7886700" cy="251183"/>
          </a:xfrm>
          <a:prstGeom prst="rect">
            <a:avLst/>
          </a:prstGeom>
        </p:spPr>
        <p:txBody>
          <a:bodyPr lIns="71561" tIns="35780" rIns="71561" bIns="35780"/>
          <a:lstStyle/>
          <a:p>
            <a:pPr algn="ctr">
              <a:defRPr/>
            </a:pPr>
            <a:r>
              <a:rPr lang="ru-RU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300" pitchFamily="50" charset="-52"/>
              </a:rPr>
              <a:t>Сухорукова В.П., студентка группы БИЗ-Б-01-В-2022-1</a:t>
            </a:r>
            <a:endParaRPr lang="ru-RU" kern="0" dirty="0">
              <a:solidFill>
                <a:schemeClr val="tx1">
                  <a:lumMod val="75000"/>
                  <a:lumOff val="25000"/>
                </a:schemeClr>
              </a:solidFill>
              <a:latin typeface="Museo Sans Cyrl 300" pitchFamily="50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1428750"/>
            <a:ext cx="4238625" cy="3543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976505" y="392544"/>
            <a:ext cx="716280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 smtClean="0">
                <a:latin typeface="Museo Sans Cyrl 500"/>
                <a:cs typeface="Museo Sans Cyrl 500"/>
              </a:rPr>
              <a:t>Актуальность </a:t>
            </a:r>
            <a:r>
              <a:rPr lang="ru-RU" sz="1900" b="1" spc="-4" dirty="0" err="1" smtClean="0">
                <a:latin typeface="Museo Sans Cyrl 500"/>
                <a:cs typeface="Museo Sans Cyrl 500"/>
              </a:rPr>
              <a:t>иследования</a:t>
            </a:r>
            <a:r>
              <a:rPr lang="ru-RU" sz="1900" b="1" spc="-4" dirty="0" smtClean="0">
                <a:latin typeface="Museo Sans Cyrl 500"/>
                <a:cs typeface="Museo Sans Cyrl 500"/>
              </a:rPr>
              <a:t> и постановка проблемы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7880" y="89535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Страховой рынок РФ — ключевой элемент финансовой системы страны, обеспечивающий защиту имущественных интересов граждан и организаций.</a:t>
            </a:r>
          </a:p>
          <a:p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ПАО СК «Росгосстрах» — один из старейших и крупнейших игроков отрасли с более чем 100‑летней историей.</a:t>
            </a:r>
          </a:p>
          <a:p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в 2025 году наблюдается снижение собственного капитала на 8,5% и чистых активов при одновременном росте заёмного финансирования (краткосрочные обязательства +90,6 %).</a:t>
            </a:r>
          </a:p>
          <a:p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необходимость выявления резервов повышения финансовой устойчивости для сохранения лидирующих позиций на рынке.</a:t>
            </a: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80" y="267276"/>
            <a:ext cx="428625" cy="54292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99400"/>
            <a:ext cx="4648200" cy="191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565" y="1352550"/>
            <a:ext cx="31877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885825" y="368435"/>
            <a:ext cx="612496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Объект, предмет и цель исследования</a:t>
            </a:r>
            <a:endParaRPr lang="ru-RU" sz="1900" b="1" spc="-4" dirty="0">
              <a:latin typeface="Museo Sans Cyrl 500"/>
              <a:cs typeface="Museo Sans Cyrl 50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3400" y="1276350"/>
            <a:ext cx="8001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Объект исследования: </a:t>
            </a:r>
            <a:r>
              <a:rPr lang="ru-RU" dirty="0"/>
              <a:t>финансово‑хозяйственная деятельность ПАО СК «Росгосстрах» за 2025 год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sz="2400" b="1" dirty="0" smtClean="0"/>
              <a:t>Предмет </a:t>
            </a:r>
            <a:r>
              <a:rPr lang="ru-RU" sz="2400" b="1" dirty="0"/>
              <a:t>исследования:</a:t>
            </a:r>
            <a:r>
              <a:rPr lang="ru-RU" dirty="0"/>
              <a:t> финансовые результаты, финансовое состояние, показатели ликвидности, устойчивости и рентабельности компании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sz="2400" b="1" dirty="0" smtClean="0"/>
              <a:t>Цель </a:t>
            </a:r>
            <a:r>
              <a:rPr lang="ru-RU" sz="2400" b="1" dirty="0"/>
              <a:t>исследования: </a:t>
            </a:r>
            <a:r>
              <a:rPr lang="ru-RU" dirty="0"/>
              <a:t>провести комплексный анализ финансово‑хозяйственной деятельности ПАО СК «Росгосстрах» и разработать рекомендации по повышению финансовой устойчивости и эффективности бизнеса.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167"/>
            <a:ext cx="428625" cy="542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990600" y="10060"/>
            <a:ext cx="665836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endParaRPr lang="ru-RU" sz="1900" spc="-4" dirty="0" smtClean="0">
              <a:solidFill>
                <a:srgbClr val="58595B"/>
              </a:solidFill>
              <a:latin typeface="Museo Sans Cyrl 500"/>
              <a:cs typeface="Museo Sans Cyrl 500"/>
            </a:endParaRPr>
          </a:p>
          <a:p>
            <a:pPr marL="9939"/>
            <a:r>
              <a:rPr lang="ru-RU" sz="2200" b="1" spc="-4" dirty="0" smtClean="0">
                <a:latin typeface="Museo Sans Cyrl 700" pitchFamily="50" charset="-52"/>
                <a:cs typeface="Museo Sans Cyrl 500"/>
              </a:rPr>
              <a:t>Задачи исследования</a:t>
            </a:r>
            <a:endParaRPr lang="ru-RU" sz="2200" b="1" spc="-4" dirty="0">
              <a:latin typeface="Museo Sans Cyrl 700" pitchFamily="50" charset="-52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79874" y="1200150"/>
            <a:ext cx="74676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Проанализировать финансовые результаты деятельности компании за 2024–2025 гг.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Оценить финансовое состояние компании (ликвидность, финансовая устойчивость, рентабельность).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Выявить ключевые проблемы в финансово‑хозяйственной деятельности.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Разработать комплекс мероприятий по улучшению финансового положения.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Обосновать экономическую эффективность предложенных мер.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Сформулировать выводы и рекомендации для руководства компании.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05" y="221367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0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914400" y="364700"/>
            <a:ext cx="612496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2200" b="1" spc="-4" dirty="0" smtClean="0">
                <a:latin typeface="Museo Sans Cyrl 700" pitchFamily="50" charset="-52"/>
                <a:cs typeface="Museo Sans Cyrl 500"/>
              </a:rPr>
              <a:t>Теоретическая </a:t>
            </a:r>
            <a:r>
              <a:rPr lang="ru-RU" sz="2200" b="1" spc="-4" dirty="0">
                <a:latin typeface="Museo Sans Cyrl 700" pitchFamily="50" charset="-52"/>
                <a:cs typeface="Museo Sans Cyrl 500"/>
              </a:rPr>
              <a:t>и методологическая база</a:t>
            </a:r>
            <a:endParaRPr lang="ru-RU" sz="2200" b="1" spc="-4" dirty="0">
              <a:latin typeface="Museo Sans Cyrl 700" pitchFamily="50" charset="-52"/>
              <a:cs typeface="Museo Sans Cyrl 50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4400" y="1276350"/>
            <a:ext cx="7620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Нормативно‑правовая база: ФЗ «О бухгалтерском учёте», ПБУ, отраслевые стандарты для страховых организаций.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r>
              <a:rPr lang="ru-RU" dirty="0"/>
              <a:t>Методы анализа: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горизонтальный и вертикальный анализ;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коэффициентный анализ (ликвидности, устойчивости, рентабельности);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сравнительный анализ с отраслевыми нормативами.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r>
              <a:rPr lang="ru-RU" dirty="0"/>
              <a:t>Источники данных: бухгалтерская отчётность ПАО СК «Росгосстрах» (формы №1 и №2) за 2024–2025 гг.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2515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0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969364" y="410867"/>
            <a:ext cx="658216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Характеристика ПАО СК «Росгосстрах»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1000" y="1276350"/>
            <a:ext cx="8305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Год основания: 1921.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Отрасль: страхование, перестрахование (ОКВЭД 2 — 65).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Масштаб: федеральный охват, более 1 500 филиалов по всей России.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Ключевые направления: ОСАГО, каско, страхование имущества, ДМС, страхование жизни.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Позиция на рынке: входит в топ‑10 страховых компаний РФ по объёму собранных премий.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Персонал: более </a:t>
            </a:r>
            <a:r>
              <a:rPr lang="ru-RU" dirty="0" smtClean="0"/>
              <a:t>50</a:t>
            </a:r>
            <a:r>
              <a:rPr lang="ru-RU" dirty="0"/>
              <a:t> 000 сотрудников.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5598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6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994560" y="410652"/>
            <a:ext cx="715884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Финансовые результаты деятельности (2024–2025 гг.)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4800" y="1200150"/>
            <a:ext cx="7848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200" dirty="0"/>
              <a:t>Выручка: +5,2% (95 145 000→100 085 000 тыс. руб.).</a:t>
            </a:r>
          </a:p>
          <a:p>
            <a:pPr lvl="0" algn="just"/>
            <a:endParaRPr lang="ru-RU" sz="1200" dirty="0"/>
          </a:p>
          <a:p>
            <a:pPr lvl="0" algn="just"/>
            <a:r>
              <a:rPr lang="ru-RU" sz="1200" dirty="0"/>
              <a:t>Прибыль от продаж: +5,2% (100 085 000 тыс. руб., 100 % от выручки).</a:t>
            </a:r>
          </a:p>
          <a:p>
            <a:pPr lvl="0" algn="just"/>
            <a:endParaRPr lang="ru-RU" sz="1200" dirty="0"/>
          </a:p>
          <a:p>
            <a:pPr lvl="0" algn="just"/>
            <a:r>
              <a:rPr lang="ru-RU" sz="1200" dirty="0"/>
              <a:t>Чистая прибыль: +5% (187 385 000 тыс. руб.).</a:t>
            </a:r>
          </a:p>
          <a:p>
            <a:pPr lvl="0" algn="just"/>
            <a:endParaRPr lang="ru-RU" sz="1200" dirty="0"/>
          </a:p>
          <a:p>
            <a:pPr lvl="0" algn="just"/>
            <a:r>
              <a:rPr lang="ru-RU" sz="1200" dirty="0"/>
              <a:t>EBIT (прибыль до уплаты процентов и налогов): +5,5% (112 985 000 тыс. руб.).</a:t>
            </a:r>
          </a:p>
          <a:p>
            <a:pPr lvl="0" algn="just"/>
            <a:endParaRPr lang="ru-RU" sz="1200" dirty="0"/>
          </a:p>
          <a:p>
            <a:pPr lvl="0" algn="just"/>
            <a:r>
              <a:rPr lang="ru-RU" sz="1200" dirty="0"/>
              <a:t>Рентабельность продаж: стабильно высокая — 100 %.</a:t>
            </a:r>
            <a:endParaRPr lang="ru-RU" sz="1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5384"/>
            <a:ext cx="428625" cy="5429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792" y="2647950"/>
            <a:ext cx="39433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990600" y="322514"/>
            <a:ext cx="612496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Анализ ФХД: финансовое состояние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57200" y="819150"/>
            <a:ext cx="7848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dirty="0"/>
              <a:t>Активы: +6,7% (138 653 049→148 007 752 тыс. руб.).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/>
              <a:t>Собственный капитал: −8,5% (104 471 912→95 594 484 тыс. руб.).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/>
              <a:t>Краткосрочные обязательства: +90,6% (16 111 059→30 713 038 тыс. руб.).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/>
              <a:t>Коэффициент текущей ликвидности: соответствует норме (≥2), но снизился за год.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/>
              <a:t>Рейтинг финансового состояния: AA («очень хорошее»).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116"/>
            <a:ext cx="428625" cy="5429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910" y="2868241"/>
            <a:ext cx="57435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2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038225" y="410866"/>
            <a:ext cx="822960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Выявленные проблемы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62000" y="1657350"/>
            <a:ext cx="7848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100" dirty="0"/>
              <a:t>Снижение собственного капитала и чистых активов (−8,5%) — ослабление финансовой независимости.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Значительный рост краткосрочных обязательств (+90,6%) и заёмных средств (+84,8%) — повышение финансовых рисков.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Недостаток высоколиквидных активов для покрытия срочных обязательств (−3 007 203 тыс. руб.) — риск неплатёжеспособности.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Низкая скорость оборачиваемости активов (523 дня </a:t>
            </a:r>
            <a:r>
              <a:rPr lang="ru-RU" sz="1100" dirty="0" err="1"/>
              <a:t>vs</a:t>
            </a:r>
            <a:r>
              <a:rPr lang="ru-RU" sz="1100" dirty="0"/>
              <a:t> норма ≤257 дней) — неэффективное использование ресурсов.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Сокращение дебиторской задолженности (−5,8%) — потенциальное снижение будущих поступлений.</a:t>
            </a:r>
            <a:endParaRPr lang="ru-RU" sz="11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5598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7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038225" y="410866"/>
            <a:ext cx="82296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2000" dirty="0"/>
              <a:t>Мероприятия по улучшению финансового состояния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14400" y="1428750"/>
            <a:ext cx="7848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ru-RU" dirty="0"/>
              <a:t>Оптимизация структуры капитала: снижение доли краткосрочных займов, привлечение долгосрочных инвестиций.</a:t>
            </a:r>
          </a:p>
          <a:p>
            <a:pPr marL="342900" lvl="0" indent="-342900" algn="just">
              <a:buFont typeface="+mj-lt"/>
              <a:buAutoNum type="arabicPeriod"/>
            </a:pPr>
            <a:endParaRPr lang="ru-RU" dirty="0"/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/>
              <a:t>Ускорение оборачиваемости активов: анализ и сокращение сроков расчётов с контрагентами.</a:t>
            </a:r>
          </a:p>
          <a:p>
            <a:pPr marL="342900" lvl="0" indent="-342900" algn="just">
              <a:buFont typeface="+mj-lt"/>
              <a:buAutoNum type="arabicPeriod"/>
            </a:pPr>
            <a:endParaRPr lang="ru-RU" dirty="0"/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/>
              <a:t>Увеличение доли высоколиквидных активов: управление денежными потоками, создание резервного фонда.</a:t>
            </a:r>
          </a:p>
          <a:p>
            <a:pPr marL="342900" lvl="0" indent="-342900" algn="just">
              <a:buFont typeface="+mj-lt"/>
              <a:buAutoNum type="arabicPeriod"/>
            </a:pPr>
            <a:endParaRPr lang="ru-RU" dirty="0"/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/>
              <a:t>Контроль запасов: оптимизация уровня запасов (+49,2% за год) через внедрение системы JIT.</a:t>
            </a:r>
          </a:p>
          <a:p>
            <a:pPr marL="342900" lvl="0" indent="-342900" algn="just">
              <a:buFont typeface="+mj-lt"/>
              <a:buAutoNum type="arabicPeriod"/>
            </a:pPr>
            <a:endParaRPr lang="ru-RU" dirty="0"/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/>
              <a:t>Мониторинг дебиторской задолженности: внедрение системы контроля сроков погашения, стимулирование досрочных платежей.</a:t>
            </a:r>
          </a:p>
          <a:p>
            <a:pPr marL="342900" lvl="0" indent="-342900" algn="just">
              <a:buFont typeface="+mj-lt"/>
              <a:buAutoNum type="arabicPeriod"/>
            </a:pPr>
            <a:endParaRPr lang="ru-RU" dirty="0"/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/>
              <a:t>Повышение рентабельности: оптимизация расходов, расширение продуктовой линейки.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5598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5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038225" y="410866"/>
            <a:ext cx="822960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Основной результат исследования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62000" y="1657350"/>
            <a:ext cx="7848600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100" dirty="0"/>
              <a:t>Разработан комплекс мер, позволяющий: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стабилизировать структуру капитала (снижение доли заёмных средств на 15–20 %);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повысить ликвидность и финансовую устойчивость (рост коэффициента текущей ликвидности до 2,5–3,0);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сократить операционный цикл (ускорение оборачиваемости активов до 250–270 дней);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обеспечить долгосрочный рост прибыли (прогнозируемый прирост чистой прибыли +7–10 % в течение 1–2 лет);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минимизировать финансовые риски и укрепить позиции компании на рынке.</a:t>
            </a:r>
            <a:endParaRPr lang="ru-RU" sz="11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5598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0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038225" y="410866"/>
            <a:ext cx="822960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 dirty="0">
                <a:latin typeface="Museo Sans Cyrl 500"/>
                <a:cs typeface="Museo Sans Cyrl 500"/>
              </a:rPr>
              <a:t>Экономическая эффективность предложенных мероприятий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62000" y="1657350"/>
            <a:ext cx="78486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100" dirty="0"/>
              <a:t>Снижение доли краткосрочных обязательств на 15–20 % за счёт реструктуризации долгов и привлечения долгосрочных инвестиций.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Ускорение оборачиваемости активов с 523 до 250–270 дней благодаря оптимизации расчётов с контрагентами и внедрению системы управления запасами.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Рост коэффициента текущей ликвидности с текущего уровня до 2,5–3,0, что обеспечит более высокий запас финансовой прочности.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Прогнозируемый прирост чистой прибыли на 7–10 % в течение 1–2 лет за счёт снижения расходов и повышения операционной эффективности.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Сокращение дебиторской задолженности на 10–15 % благодаря внедрению системы контроля сроков погашения и стимулированию досрочных платежей.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Оптимизация расходов на ведение дел (РВД) на 5–8 % через автоматизацию процессов и пересмотр агентских комиссий.</a:t>
            </a:r>
            <a:endParaRPr lang="ru-RU" sz="11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5598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5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038225" y="410866"/>
            <a:ext cx="822960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r>
              <a:rPr lang="ru-RU" sz="1900" b="1" spc="-4">
                <a:latin typeface="Museo Sans Cyrl 500"/>
                <a:cs typeface="Museo Sans Cyrl 500"/>
              </a:rPr>
              <a:t>Выводы исследования</a:t>
            </a:r>
            <a:endParaRPr lang="ru-RU" sz="1900" b="1" spc="-4" dirty="0" smtClean="0">
              <a:latin typeface="Museo Sans Cyrl 500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85800" y="1276350"/>
            <a:ext cx="7848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100" dirty="0"/>
              <a:t>Финансовое состояние ПАО СК «Росгосстрах» оценивается как очень хорошее (рейтинг AA), несмотря на ряд выявленных проблем.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Наблюдается рост выручки и прибыли (+5,2 % и +5 % соответственно), что свидетельствует о положительной динамике операционной деятельности.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Ключевые проблемы связаны с ухудшением структуры капитала (снижение собственного капитала на 8,5 %, рост краткосрочных обязательств на 90,6 %) и низкой оборачиваемостью активов.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Разработанный комплекс мероприятий направлен на устранение выявленных недостатков и минимизацию финансовых рисков.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Реализация плана позволит стабилизировать структуру капитала, повысить ликвидность и обеспечить долгосрочный рост прибыли.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Предложенные меры экономически обоснованы и могут быть внедрены в среднесрочной перспективе (1–2 года).</a:t>
            </a:r>
          </a:p>
          <a:p>
            <a:pPr lvl="0" algn="just"/>
            <a:endParaRPr lang="ru-RU" sz="1100" dirty="0"/>
          </a:p>
          <a:p>
            <a:pPr lvl="0" algn="just"/>
            <a:r>
              <a:rPr lang="ru-RU" sz="1100" dirty="0"/>
              <a:t>Результаты исследования могут быть использованы руководством компании для принятия управ</a:t>
            </a:r>
            <a:endParaRPr lang="ru-RU" sz="11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5598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4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>
            <a:spLocks/>
          </p:cNvSpPr>
          <p:nvPr/>
        </p:nvSpPr>
        <p:spPr>
          <a:xfrm>
            <a:off x="1952240" y="133350"/>
            <a:ext cx="612496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9"/>
            <a:endParaRPr lang="ru-RU" sz="1900" spc="-4" dirty="0" smtClean="0">
              <a:solidFill>
                <a:srgbClr val="58595B"/>
              </a:solidFill>
              <a:latin typeface="Museo Sans Cyrl 500"/>
              <a:cs typeface="Museo Sans Cyrl 500"/>
            </a:endParaRPr>
          </a:p>
          <a:p>
            <a:pPr marL="9939"/>
            <a:r>
              <a:rPr lang="ru-RU" sz="2400"/>
              <a:t>Апробация результатов исследования</a:t>
            </a:r>
            <a:endParaRPr lang="ru-RU" sz="2200" b="1" spc="-4" dirty="0">
              <a:latin typeface="Museo Sans Cyrl 700" pitchFamily="50" charset="-52"/>
              <a:cs typeface="Museo Sans Cyrl 50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09600" y="1123950"/>
            <a:ext cx="7848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AutoNum type="arabicPeriod"/>
            </a:pPr>
            <a:r>
              <a:rPr lang="ru-RU" sz="1800" dirty="0"/>
              <a:t>Использование материалов исследования в учебном процессе на кафедре финансов и кредита [название вуза] при подготовке курса «Анализ финансово‑хозяйственной деятельности</a:t>
            </a:r>
            <a:r>
              <a:rPr lang="ru-RU" sz="1800" dirty="0" smtClean="0"/>
              <a:t>».</a:t>
            </a:r>
          </a:p>
          <a:p>
            <a:pPr marL="342900" lvl="0" indent="-342900" algn="just">
              <a:buAutoNum type="arabicPeriod"/>
            </a:pPr>
            <a:endParaRPr lang="ru-RU" sz="1800" dirty="0"/>
          </a:p>
          <a:p>
            <a:pPr lvl="0" algn="just"/>
            <a:r>
              <a:rPr lang="ru-RU" sz="1800" dirty="0" smtClean="0"/>
              <a:t>2. Разработанные </a:t>
            </a:r>
            <a:r>
              <a:rPr lang="ru-RU" sz="1800" dirty="0"/>
              <a:t>рекомендации представляют интерес для финансовых служб страховых организаций как инструмент повышения устойчивости</a:t>
            </a:r>
            <a:r>
              <a:rPr lang="ru-RU" sz="1800" dirty="0" smtClean="0"/>
              <a:t>.</a:t>
            </a:r>
          </a:p>
          <a:p>
            <a:pPr lvl="0" algn="just"/>
            <a:endParaRPr lang="ru-RU" sz="1800" dirty="0"/>
          </a:p>
          <a:p>
            <a:pPr lvl="0" algn="just"/>
            <a:endParaRPr lang="ru-RU" sz="1800" dirty="0" smtClean="0"/>
          </a:p>
          <a:p>
            <a:pPr lvl="0" algn="just"/>
            <a:endParaRPr lang="ru-RU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" y="221367"/>
            <a:ext cx="428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5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3407" y="1809750"/>
            <a:ext cx="7036521" cy="2139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976" algn="ctr"/>
            <a:r>
              <a:rPr lang="ru-RU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700" panose="02000000000000000000" pitchFamily="50" charset="-52"/>
                <a:cs typeface="Museo Sans Cyrl 500"/>
              </a:rPr>
              <a:t>БЛАГОДАРЮ ЗА ВНИМАНИЕ!</a:t>
            </a:r>
          </a:p>
          <a:p>
            <a:pPr marR="3976" algn="ctr"/>
            <a:endParaRPr lang="ru-RU" sz="2500" dirty="0" smtClean="0">
              <a:solidFill>
                <a:schemeClr val="tx1">
                  <a:lumMod val="75000"/>
                  <a:lumOff val="25000"/>
                </a:schemeClr>
              </a:solidFill>
              <a:latin typeface="Museo Sans Cyrl 700" panose="02000000000000000000" pitchFamily="50" charset="-52"/>
              <a:cs typeface="Museo Sans Cyrl 500"/>
            </a:endParaRPr>
          </a:p>
          <a:p>
            <a:pPr marR="3976" algn="ctr"/>
            <a:r>
              <a:rPr lang="ru-RU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500"/>
                <a:cs typeface="Museo Sans Cyrl 500"/>
              </a:rPr>
              <a:t>Виктория Павловна</a:t>
            </a:r>
          </a:p>
          <a:p>
            <a:pPr marR="3976" algn="ctr"/>
            <a:r>
              <a:rPr lang="ru-RU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500"/>
                <a:cs typeface="Museo Sans Cyrl 500"/>
              </a:rPr>
              <a:t>Сухорукова</a:t>
            </a:r>
          </a:p>
          <a:p>
            <a:pPr marR="3976" algn="ctr"/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latin typeface="Museo Sans Cyrl 500"/>
              <a:cs typeface="Museo Sans Cyrl 500"/>
            </a:endParaRPr>
          </a:p>
          <a:p>
            <a:pPr marR="3976" algn="ctr"/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500"/>
                <a:cs typeface="Museo Sans Cyrl 500"/>
              </a:rPr>
              <a:t>Группа БИЗ-Б-01-В-2022-1</a:t>
            </a:r>
          </a:p>
          <a:p>
            <a:pPr marR="3976"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500"/>
                <a:cs typeface="Museo Sans Cyrl 500"/>
              </a:rPr>
              <a:t>4</a:t>
            </a: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500"/>
                <a:cs typeface="Museo Sans Cyrl 500"/>
              </a:rPr>
              <a:t> </a:t>
            </a: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useo Sans Cyrl 500"/>
                <a:cs typeface="Museo Sans Cyrl 500"/>
              </a:rPr>
              <a:t>КУРС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6656" y="136037"/>
            <a:ext cx="2019933" cy="62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561" tIns="35780" rIns="71561" bIns="35780"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917729" y="4385579"/>
            <a:ext cx="2019933" cy="62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561" tIns="35780" rIns="71561" bIns="35780" rtlCol="0" anchor="ctr"/>
          <a:lstStyle/>
          <a:p>
            <a:pPr algn="ctr"/>
            <a:endParaRPr lang="ru-RU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3399136" y="1203630"/>
            <a:ext cx="24001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67" y="230510"/>
            <a:ext cx="762000" cy="96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595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2756</TotalTime>
  <Words>454</Words>
  <Application>Microsoft Office PowerPoint</Application>
  <PresentationFormat>Экран (16:9)</PresentationFormat>
  <Paragraphs>159</Paragraphs>
  <Slides>15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Museo Sans Cyrl 300</vt:lpstr>
      <vt:lpstr>Museo Sans Cyrl 500</vt:lpstr>
      <vt:lpstr>Museo Sans Cyrl 700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</dc:creator>
  <cp:lastModifiedBy>user</cp:lastModifiedBy>
  <cp:revision>246</cp:revision>
  <dcterms:created xsi:type="dcterms:W3CDTF">2016-11-02T01:31:18Z</dcterms:created>
  <dcterms:modified xsi:type="dcterms:W3CDTF">2026-06-17T19:40:55Z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2016-03-31T00:00:00Z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2016-11-01T00:00:00Z</vt:filetime>
  </property>
</Properties>
</file>